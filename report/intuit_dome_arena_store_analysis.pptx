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05A6C-D878-484F-ACE2-FC0E09DE0C15}">
  <a:tblStyle styleId="{36705A6C-D878-484F-ACE2-FC0E09DE0C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Scope: three Clippers home playoff games against Denver on Apr 24, Apr 26, and May 1, 2025. Source: LA Clippers 2025 Business Insights</a:t>
            </a:r>
            <a:r>
              <a:rPr lang="en-US"/>
              <a:t> C</a:t>
            </a:r>
            <a:r>
              <a:rPr lang="en-US" sz="1200"/>
              <a:t>hallenge workbook supplied for analysis.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All values are calculated from the aggregate tables in data/processed. Net sales are not profit; the workbook contains no cost or margin fields.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business_vertical_summary.csv and mixed_store_vertical_summary.csv, built from the supplied challenge workbook. Definitions: net sales is the sum of NetAmount; shares are across all three games.</a:t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store_type_summary.csv. Average transaction value is net sales divided by unique transactions within each store type; it is not the mean line-item amount.</a:t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Scheduled tipoffs used: Apr 24 7:00 PM local, Apr 26 3:00 PM local, May 1 7:00 PM local. Official game durations: Apr 24 2:19 (https://statsdmz.nba.com/pdfs/20250424/20250424_DENLAC.pdf); Apr 26 2:30 (https://statsdmz.nba.com/pdfs/20250426/20250426_DENLAC.pdf); May 1 2:13 (https://statsdmz.nba.com/pdfs/20250501/20250501_DENLAC.pdf). Source data: game_hour_summary.csv.</a:t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game_summary.csv and customer_frequency_summary.csv. Declines: (Game 6 / Game 3) − 1. Customer cohorts count distinct game dates with a purchase; no causal loyalty claim is made.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data_quality_summary.csv, store_entry_summary.csv, and unmatched_entry_checkpoints.csv. StoreEntries contains 20,603 unique IDs, 3,549 events with missing IDs, and 22,468 repeat identified events beyond the first per person/game. CustomerIDs has 16,747 exact duplicate rows. Arena EntryScans IDs also have zero overlap with CustomerIDs.</a:t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Recommendations are test designs, not claims of causal impact. Required instrumentation: experiment exposure, attendance, operating minutes, staffing, wait time, abandonment, inventory/stockouts, promotions, cost, and margin.</a:t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858250" y="285750"/>
            <a:ext cx="3333750" cy="3333750"/>
          </a:xfrm>
          <a:prstGeom prst="ellipse">
            <a:avLst/>
          </a:prstGeom>
          <a:solidFill>
            <a:srgbClr val="123A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525000" y="3714750"/>
            <a:ext cx="2667000" cy="2667000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524875" y="0"/>
            <a:ext cx="152400" cy="6858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57250" y="685800"/>
            <a:ext cx="590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E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DCEEFF"/>
                </a:solidFill>
                <a:latin typeface="Arial"/>
                <a:ea typeface="Arial"/>
                <a:cs typeface="Arial"/>
                <a:sym typeface="Arial"/>
              </a:rPr>
              <a:t>2025 BUSINESS INSIGHTS CASE STUDY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57250" y="1428750"/>
            <a:ext cx="7239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</a:rPr>
              <a:t>Intuit Dome </a:t>
            </a:r>
            <a:r>
              <a:rPr b="1" lang="en-US" sz="4800">
                <a:solidFill>
                  <a:srgbClr val="FFFFFF"/>
                </a:solidFill>
              </a:rPr>
              <a:t>A</a:t>
            </a:r>
            <a:r>
              <a:rPr b="1" lang="en-US" sz="4800">
                <a:solidFill>
                  <a:srgbClr val="FFFFFF"/>
                </a:solidFill>
              </a:rPr>
              <a:t>rena</a:t>
            </a:r>
            <a:r>
              <a:rPr b="1" lang="en-US" sz="4800">
                <a:solidFill>
                  <a:srgbClr val="FFFFFF"/>
                </a:solidFill>
              </a:rPr>
              <a:t> </a:t>
            </a:r>
            <a:endParaRPr b="1" sz="48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</a:rPr>
              <a:t>S</a:t>
            </a:r>
            <a:r>
              <a:rPr b="1" lang="en-US" sz="4800">
                <a:solidFill>
                  <a:srgbClr val="FFFFFF"/>
                </a:solidFill>
              </a:rPr>
              <a:t>tore </a:t>
            </a:r>
            <a:r>
              <a:rPr b="1" lang="en-US" sz="4800">
                <a:solidFill>
                  <a:srgbClr val="FFFFFF"/>
                </a:solidFill>
              </a:rPr>
              <a:t>A</a:t>
            </a:r>
            <a:r>
              <a:rPr b="1" lang="en-US" sz="4800">
                <a:solidFill>
                  <a:srgbClr val="FFFFFF"/>
                </a:solidFill>
              </a:rPr>
              <a:t>nalysis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95350" y="3333750"/>
            <a:ext cx="6858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CE6F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DCE6F3"/>
                </a:solidFill>
                <a:latin typeface="Arial"/>
                <a:ea typeface="Arial"/>
                <a:cs typeface="Arial"/>
                <a:sym typeface="Arial"/>
              </a:rPr>
              <a:t>A defensible view of revenue mix, transaction economics, and demand timing</a:t>
            </a:r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895350" y="4362450"/>
            <a:ext cx="6191250" cy="0"/>
          </a:xfrm>
          <a:prstGeom prst="straightConnector1">
            <a:avLst/>
          </a:prstGeom>
          <a:noFill/>
          <a:ln cap="flat" cmpd="sng" w="47625">
            <a:solidFill>
              <a:srgbClr val="E31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895350" y="4724400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$1.156M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14400" y="518160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E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DCEEFF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143250" y="4724400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31,346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162300" y="518160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E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DCEEFF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429250" y="4724400"/>
            <a:ext cx="95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448300" y="518160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E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DCEEFF"/>
                </a:solidFill>
                <a:latin typeface="Arial"/>
                <a:ea typeface="Arial"/>
                <a:cs typeface="Arial"/>
                <a:sym typeface="Arial"/>
              </a:rPr>
              <a:t>PLAYOFF GAMES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95350" y="61912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6D9"/>
              </a:buClr>
              <a:buSzPts val="1050"/>
              <a:buFont typeface="Arial"/>
              <a:buNone/>
            </a:pPr>
            <a:r>
              <a:rPr b="1" i="1" lang="en-US" sz="1550">
                <a:solidFill>
                  <a:srgbClr val="B8C6D9"/>
                </a:solidFill>
              </a:rPr>
              <a:t>Oluwaseyi Caleb Folorunso</a:t>
            </a:r>
            <a:endParaRPr i="1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Four facts replace four vague claims</a:t>
            </a:r>
            <a:endParaRPr/>
          </a:p>
        </p:txBody>
      </p:sp>
      <p:cxnSp>
        <p:nvCxnSpPr>
          <p:cNvPr id="40" name="Google Shape;40;p4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2025 Clippers Business Insights challenge dataset; author analysis.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</a:rPr>
              <a:t>2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85800" y="1581150"/>
            <a:ext cx="5143500" cy="1952625"/>
          </a:xfrm>
          <a:prstGeom prst="roundRect">
            <a:avLst>
              <a:gd fmla="val 878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85800" y="1581150"/>
            <a:ext cx="76200" cy="1952625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52500" y="1809750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$1.156M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71550" y="2324100"/>
            <a:ext cx="4648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71550" y="2647950"/>
            <a:ext cx="4610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0" lang="en-US" sz="14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31,346 transactions from 16,835 purchasing accounts.</a:t>
            </a:r>
            <a:endParaRPr sz="1500"/>
          </a:p>
        </p:txBody>
      </p:sp>
      <p:sp>
        <p:nvSpPr>
          <p:cNvPr id="48" name="Google Shape;48;p4"/>
          <p:cNvSpPr/>
          <p:nvPr/>
        </p:nvSpPr>
        <p:spPr>
          <a:xfrm>
            <a:off x="6362700" y="1581150"/>
            <a:ext cx="5143500" cy="1952625"/>
          </a:xfrm>
          <a:prstGeom prst="roundRect">
            <a:avLst>
              <a:gd fmla="val 878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362700" y="1581150"/>
            <a:ext cx="76200" cy="1952625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629400" y="1809750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62.8%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648450" y="2324100"/>
            <a:ext cx="4648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FOOD &amp; BEVERAGE SHARE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648450" y="2647950"/>
            <a:ext cx="4610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0" lang="en-US" sz="14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Food &amp; beverage was 1.69× retail—or 69.1% higher.</a:t>
            </a:r>
            <a:endParaRPr sz="1500"/>
          </a:p>
        </p:txBody>
      </p:sp>
      <p:sp>
        <p:nvSpPr>
          <p:cNvPr id="53" name="Google Shape;53;p4"/>
          <p:cNvSpPr/>
          <p:nvPr/>
        </p:nvSpPr>
        <p:spPr>
          <a:xfrm>
            <a:off x="685800" y="3829050"/>
            <a:ext cx="5143500" cy="1952625"/>
          </a:xfrm>
          <a:prstGeom prst="roundRect">
            <a:avLst>
              <a:gd fmla="val 878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85800" y="3829050"/>
            <a:ext cx="76200" cy="195262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52500" y="4057650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 of 3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71550" y="4572000"/>
            <a:ext cx="4648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REVENUE PEAK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71550" y="4895850"/>
            <a:ext cx="4610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0" lang="en-US" sz="14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The final hour before scheduled tipoff led every game.</a:t>
            </a:r>
            <a:endParaRPr sz="1500"/>
          </a:p>
        </p:txBody>
      </p:sp>
      <p:sp>
        <p:nvSpPr>
          <p:cNvPr id="58" name="Google Shape;58;p4"/>
          <p:cNvSpPr/>
          <p:nvPr/>
        </p:nvSpPr>
        <p:spPr>
          <a:xfrm>
            <a:off x="6362700" y="3829050"/>
            <a:ext cx="5143500" cy="1952625"/>
          </a:xfrm>
          <a:prstGeom prst="roundRect">
            <a:avLst>
              <a:gd fmla="val 878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362700" y="3829050"/>
            <a:ext cx="76200" cy="1952625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629400" y="4057650"/>
            <a:ext cx="4648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648450" y="4572000"/>
            <a:ext cx="4648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MATCHING ENTRY IDS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648450" y="4895850"/>
            <a:ext cx="4610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0" lang="en-US" sz="14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Individual entry-to-purchase conversion is not identifiable.</a:t>
            </a:r>
            <a:endParaRPr sz="1500"/>
          </a:p>
        </p:txBody>
      </p:sp>
      <p:sp>
        <p:nvSpPr>
          <p:cNvPr id="63" name="Google Shape;63;p4"/>
          <p:cNvSpPr/>
          <p:nvPr/>
        </p:nvSpPr>
        <p:spPr>
          <a:xfrm>
            <a:off x="685800" y="6076950"/>
            <a:ext cx="723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Descriptive window: Games 3, 4, and 6 of one playoff series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Food &amp; beverage is the scale engine</a:t>
            </a:r>
            <a:endParaRPr/>
          </a:p>
        </p:txBody>
      </p:sp>
      <p:cxnSp>
        <p:nvCxnSpPr>
          <p:cNvPr id="73" name="Google Shape;73;p5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5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2025 Clippers Business Insights challenge dataset; author analysis.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</a:rPr>
              <a:t>3</a:t>
            </a:r>
            <a:endParaRPr/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638300"/>
            <a:ext cx="6057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1790700" y="5219700"/>
            <a:ext cx="63627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85800" y="22479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Food &amp; beverage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85800" y="3457575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Retail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85800" y="4657725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Service items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8401050" y="1638300"/>
            <a:ext cx="3105150" cy="4000500"/>
          </a:xfrm>
          <a:prstGeom prst="roundRect">
            <a:avLst>
              <a:gd fmla="val 5521" name="adj"/>
            </a:avLst>
          </a:prstGeom>
          <a:solidFill>
            <a:srgbClr val="F4F7FB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705850" y="1952625"/>
            <a:ext cx="2381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$725K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724900" y="24574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FOOD &amp; BEVERAGE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705850" y="3000375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1.69×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724900" y="345757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versus retail sales</a:t>
            </a:r>
            <a:endParaRPr/>
          </a:p>
        </p:txBody>
      </p:sp>
      <p:cxnSp>
        <p:nvCxnSpPr>
          <p:cNvPr id="86" name="Google Shape;86;p5"/>
          <p:cNvCxnSpPr/>
          <p:nvPr/>
        </p:nvCxnSpPr>
        <p:spPr>
          <a:xfrm>
            <a:off x="8705850" y="3971925"/>
            <a:ext cx="238125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8705850" y="4210050"/>
            <a:ext cx="238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99.1%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724900" y="4667250"/>
            <a:ext cx="2381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F&amp;B share inside mixed-format stores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23900" y="5848350"/>
            <a:ext cx="781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Correct framing: 69.1% higher—not 1.7% better.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Mixed stores win volume; retail wins ticket</a:t>
            </a:r>
            <a:endParaRPr/>
          </a:p>
        </p:txBody>
      </p:sp>
      <p:cxnSp>
        <p:nvCxnSpPr>
          <p:cNvPr id="99" name="Google Shape;99;p6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2025 Clippers Business Insights challenge dataset; author analysis.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</a:rPr>
              <a:t>4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85800" y="15049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TRANSACTION VOLUME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362700" y="15049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AVERAGE TRANSACTION VALUE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90700"/>
            <a:ext cx="52578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90700"/>
            <a:ext cx="52578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685800" y="5334000"/>
            <a:ext cx="10820400" cy="743100"/>
          </a:xfrm>
          <a:prstGeom prst="roundRect">
            <a:avLst>
              <a:gd fmla="val 17949" name="adj"/>
            </a:avLst>
          </a:prstGeom>
          <a:solidFill>
            <a:srgbClr val="DCEEFF"/>
          </a:solidFill>
          <a:ln cap="flat" cmpd="sng" w="9525">
            <a:solidFill>
              <a:srgbClr val="A7CC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933450" y="551497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OPERATING IMPLICATION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143250" y="5514975"/>
            <a:ext cx="796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Run distinct tests: throughput at mixed stores; attach at retail.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143250" y="5810250"/>
            <a:ext cx="796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ATV is calculated after aggregating all line items to one transaction.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Normalize to tipoff: hour −1 is the revenue peak</a:t>
            </a:r>
            <a:endParaRPr/>
          </a:p>
        </p:txBody>
      </p:sp>
      <p:cxnSp>
        <p:nvCxnSpPr>
          <p:cNvPr id="119" name="Google Shape;119;p7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7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transaction timestamps; scheduled tipoffs and official game books in speaker notes.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</a:rPr>
              <a:t>5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638300"/>
            <a:ext cx="80962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9048750" y="1638300"/>
            <a:ext cx="2457450" cy="4095750"/>
          </a:xfrm>
          <a:prstGeom prst="roundRect">
            <a:avLst>
              <a:gd fmla="val 6977" name="adj"/>
            </a:avLst>
          </a:prstGeom>
          <a:solidFill>
            <a:srgbClr val="F4F7FB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9296400" y="19240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HOUR −1 SHARE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9296400" y="230505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34.0%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9315450" y="27051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Game 3</a:t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9296400" y="314325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35.6%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9315450" y="35433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Game 4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9296400" y="398145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27.6%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9315450" y="43815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Game 6</a:t>
            </a:r>
            <a:endParaRPr/>
          </a:p>
        </p:txBody>
      </p:sp>
      <p:cxnSp>
        <p:nvCxnSpPr>
          <p:cNvPr id="131" name="Google Shape;131;p7"/>
          <p:cNvCxnSpPr/>
          <p:nvPr/>
        </p:nvCxnSpPr>
        <p:spPr>
          <a:xfrm>
            <a:off x="9296400" y="4857750"/>
            <a:ext cx="180975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7"/>
          <p:cNvSpPr/>
          <p:nvPr/>
        </p:nvSpPr>
        <p:spPr>
          <a:xfrm>
            <a:off x="9296400" y="5048250"/>
            <a:ext cx="1857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Peak revenue, not necessarily peak transaction count.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85800" y="595312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Displayed window contains 98.8% of sales.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Game 6 net sales finished 22.8% below Game 3</a:t>
            </a:r>
            <a:endParaRPr/>
          </a:p>
        </p:txBody>
      </p:sp>
      <p:cxnSp>
        <p:nvCxnSpPr>
          <p:cNvPr id="143" name="Google Shape;143;p8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8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2025 Clippers Business Insights challenge dataset; author analysis.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</a:rPr>
              <a:t>6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714500"/>
            <a:ext cx="65722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7677150" y="1714500"/>
            <a:ext cx="3829050" cy="3429000"/>
          </a:xfrm>
          <a:prstGeom prst="roundRect">
            <a:avLst>
              <a:gd fmla="val 5000" name="adj"/>
            </a:avLst>
          </a:prstGeom>
          <a:solidFill>
            <a:srgbClr val="F4F7FB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962900" y="19812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DECLINE, GAME 3 → GAME 6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962900" y="2419350"/>
            <a:ext cx="152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−22.8%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9525000" y="2533650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962900" y="3067050"/>
            <a:ext cx="152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−13.7%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9525000" y="3181350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7962900" y="3714750"/>
            <a:ext cx="152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−10.6%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9525000" y="3829050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average ticket</a:t>
            </a:r>
            <a:endParaRPr/>
          </a:p>
        </p:txBody>
      </p:sp>
      <p:cxnSp>
        <p:nvCxnSpPr>
          <p:cNvPr id="155" name="Google Shape;155;p8"/>
          <p:cNvCxnSpPr/>
          <p:nvPr/>
        </p:nvCxnSpPr>
        <p:spPr>
          <a:xfrm>
            <a:off x="7962900" y="4457700"/>
            <a:ext cx="314325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8"/>
          <p:cNvSpPr/>
          <p:nvPr/>
        </p:nvSpPr>
        <p:spPr>
          <a:xfrm>
            <a:off x="7962900" y="46672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Cause remains unobserved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85800" y="5429250"/>
            <a:ext cx="10820400" cy="742950"/>
          </a:xfrm>
          <a:prstGeom prst="roundRect">
            <a:avLst>
              <a:gd fmla="val 17949" name="adj"/>
            </a:avLst>
          </a:prstGeom>
          <a:solidFill>
            <a:srgbClr val="DCEEFF"/>
          </a:solidFill>
          <a:ln cap="flat" cmpd="sng" w="9525">
            <a:solidFill>
              <a:srgbClr val="A7CC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933450" y="5581650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323 accounts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914650" y="56197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purchased in all 3 games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905500" y="55816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1.9% of customers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8763000" y="55816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13.5% of sales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933450" y="5886450"/>
            <a:ext cx="942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25"/>
              <a:buFont typeface="Arial"/>
              <a:buNone/>
            </a:pPr>
            <a:r>
              <a:rPr b="0" lang="en-US" sz="11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Descriptive cohort signal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Conversion is not identifiable in this workbook</a:t>
            </a:r>
            <a:endParaRPr/>
          </a:p>
        </p:txBody>
      </p:sp>
      <p:cxnSp>
        <p:nvCxnSpPr>
          <p:cNvPr id="172" name="Google Shape;172;p9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Source: 2025 Clippers Business Insights challenge dataset; author analysis.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85800" y="1581150"/>
            <a:ext cx="2648100" cy="895500"/>
          </a:xfrm>
          <a:prstGeom prst="roundRect">
            <a:avLst>
              <a:gd fmla="val 14894" name="adj"/>
            </a:avLst>
          </a:prstGeom>
          <a:solidFill>
            <a:srgbClr val="F4F7FB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914400" y="1752600"/>
            <a:ext cx="209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49,223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933450" y="2105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store-entry events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676650" y="1866900"/>
            <a:ext cx="119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NBAId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3333750" y="2028825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2D7F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9"/>
          <p:cNvCxnSpPr/>
          <p:nvPr/>
        </p:nvCxnSpPr>
        <p:spPr>
          <a:xfrm>
            <a:off x="4867275" y="2028825"/>
            <a:ext cx="914400" cy="0"/>
          </a:xfrm>
          <a:prstGeom prst="straightConnector1">
            <a:avLst/>
          </a:prstGeom>
          <a:noFill/>
          <a:ln cap="flat" cmpd="sng" w="28575">
            <a:solidFill>
              <a:srgbClr val="E3193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" name="Google Shape;181;p9"/>
          <p:cNvSpPr/>
          <p:nvPr/>
        </p:nvSpPr>
        <p:spPr>
          <a:xfrm>
            <a:off x="4752975" y="13525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0 matches</a:t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055875" y="1571550"/>
            <a:ext cx="5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895963" y="1571550"/>
            <a:ext cx="2648100" cy="895500"/>
          </a:xfrm>
          <a:prstGeom prst="roundRect">
            <a:avLst>
              <a:gd fmla="val 14894" name="adj"/>
            </a:avLst>
          </a:prstGeom>
          <a:solidFill>
            <a:srgbClr val="DCEEFF"/>
          </a:solidFill>
          <a:ln cap="flat" cmpd="sng" w="9525">
            <a:solidFill>
              <a:srgbClr val="A7CC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143613" y="1771575"/>
            <a:ext cx="2133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CustomerIDs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6162663" y="2104950"/>
            <a:ext cx="2095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account crosswalk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8858025" y="1571625"/>
            <a:ext cx="2648100" cy="895500"/>
          </a:xfrm>
          <a:prstGeom prst="roundRect">
            <a:avLst>
              <a:gd fmla="val 14894" name="adj"/>
            </a:avLst>
          </a:prstGeom>
          <a:solidFill>
            <a:srgbClr val="FFF1F3"/>
          </a:solidFill>
          <a:ln cap="flat" cmpd="sng" w="9525">
            <a:solidFill>
              <a:srgbClr val="F5A6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9085012" y="1781175"/>
            <a:ext cx="219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No person-level conversion</a:t>
            </a:r>
            <a:endParaRPr/>
          </a:p>
        </p:txBody>
      </p:sp>
      <p:graphicFrame>
        <p:nvGraphicFramePr>
          <p:cNvPr id="188" name="Google Shape;188;p9"/>
          <p:cNvGraphicFramePr/>
          <p:nvPr/>
        </p:nvGraphicFramePr>
        <p:xfrm>
          <a:off x="685800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{36705A6C-D878-484F-ACE2-FC0E09DE0C15}</a:tableStyleId>
              </a:tblPr>
              <a:tblGrid>
                <a:gridCol w="3714750"/>
                <a:gridCol w="1666875"/>
                <a:gridCol w="54387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Quality check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Treatment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B1F3A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Sales rows mapped to stores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 · many-to-one; dollars reconcile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Store-entry mapping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89.7%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 · 5,088 events lack lookup rows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7FB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Duplicate-looking sales lines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 · retained; no immutable line ID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Missing / repeat identified entry events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3,549 / 22,468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 · rows are events, not attendees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4F7FB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Entry IDs found in customer map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937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E31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BLOCKER · do not calculate conversion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9"/>
          <p:cNvSpPr/>
          <p:nvPr/>
        </p:nvSpPr>
        <p:spPr>
          <a:xfrm>
            <a:off x="685800" y="59817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Also blocked: EntryScans IDs have zero overlap with CustomerIDs.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85800" y="419100"/>
            <a:ext cx="400050" cy="5715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200150" y="361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INTUIT DOME  /  ARENA-STORE ANALYSIS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85800" y="62865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Test, measure, then scale</a:t>
            </a:r>
            <a:endParaRPr/>
          </a:p>
        </p:txBody>
      </p:sp>
      <p:cxnSp>
        <p:nvCxnSpPr>
          <p:cNvPr id="199" name="Google Shape;199;p10"/>
          <p:cNvCxnSpPr/>
          <p:nvPr/>
        </p:nvCxnSpPr>
        <p:spPr>
          <a:xfrm>
            <a:off x="685800" y="12954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0"/>
          <p:cNvSpPr/>
          <p:nvPr/>
        </p:nvSpPr>
        <p:spPr>
          <a:xfrm>
            <a:off x="685800" y="6524625"/>
            <a:ext cx="952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25"/>
              <a:buFont typeface="Arial"/>
              <a:buNone/>
            </a:pPr>
            <a:r>
              <a:rPr b="0" lang="en-US" sz="82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Decision plan based on three observed games; causal lift is not yet measured.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11049000" y="650557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685800" y="1619250"/>
            <a:ext cx="5257800" cy="1676400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95350" y="1828800"/>
            <a:ext cx="552450" cy="400050"/>
          </a:xfrm>
          <a:prstGeom prst="roundRect">
            <a:avLst>
              <a:gd fmla="val 23810" name="adj"/>
            </a:avLst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895350" y="1895475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1619250" y="18288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Protect hour −1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933450" y="236220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Pilot incremental staffing, replenishment, and queue coverage.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933450" y="2943225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MEASURE  Revenue/min · wait · abandonment · stockouts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6248400" y="1619250"/>
            <a:ext cx="5257800" cy="1676400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457950" y="1828800"/>
            <a:ext cx="552450" cy="400050"/>
          </a:xfrm>
          <a:prstGeom prst="roundRect">
            <a:avLst>
              <a:gd fmla="val 23810" name="adj"/>
            </a:avLst>
          </a:prstGeom>
          <a:solidFill>
            <a:srgbClr val="2D7F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457950" y="1895475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7181850" y="18288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Test retail attach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496050" y="236220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Randomize or phase a merchandise-plus-concessions prompt.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496050" y="2943225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MEASURE  Exposure · lift · basket · margin · cannibalization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85800" y="3600450"/>
            <a:ext cx="5257800" cy="1676400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95350" y="3810000"/>
            <a:ext cx="552450" cy="400050"/>
          </a:xfrm>
          <a:prstGeom prst="roundRect">
            <a:avLst>
              <a:gd fmla="val 2381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895350" y="3876675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1619250" y="38100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Diagnose the decline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933450" y="434340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Explain the Game 3-to-Game 6 drop before choosing a remedy.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33450" y="4924425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MEASURE  Attendance · open minutes · staffing · inventory · promo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248400" y="3600450"/>
            <a:ext cx="5257800" cy="1676400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6457950" y="3810000"/>
            <a:ext cx="552450" cy="400050"/>
          </a:xfrm>
          <a:prstGeom prst="roundRect">
            <a:avLst>
              <a:gd fmla="val 23810" name="adj"/>
            </a:avLst>
          </a:prstGeom>
          <a:solidFill>
            <a:srgbClr val="E31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457950" y="3876675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7181850" y="38100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Repair measurement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496050" y="434340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Complete checkpoint mapping and create a governed identity bridge.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496050" y="4924425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MEASURE  Match rate · consent · retention · event definition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85800" y="5581650"/>
            <a:ext cx="10820400" cy="609600"/>
          </a:xfrm>
          <a:prstGeom prst="roundRect">
            <a:avLst>
              <a:gd fmla="val 21875" name="adj"/>
            </a:avLst>
          </a:prstGeom>
          <a:solidFill>
            <a:srgbClr val="F4F7FB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914400" y="5781675"/>
            <a:ext cx="1047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93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1937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057400" y="5743575"/>
            <a:ext cx="904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 games  •  net sales ≠ profit  •  no attendance, margin, inventory, queue, staffing, or exposure fields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